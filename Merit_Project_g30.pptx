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0" r:id="rId2"/>
    <p:sldId id="285" r:id="rId3"/>
    <p:sldId id="257" r:id="rId4"/>
    <p:sldId id="258" r:id="rId5"/>
    <p:sldId id="281" r:id="rId6"/>
    <p:sldId id="28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56" r:id="rId17"/>
    <p:sldId id="270" r:id="rId18"/>
    <p:sldId id="272" r:id="rId19"/>
    <p:sldId id="273" r:id="rId20"/>
    <p:sldId id="276" r:id="rId21"/>
    <p:sldId id="275" r:id="rId22"/>
    <p:sldId id="274" r:id="rId23"/>
    <p:sldId id="277" r:id="rId24"/>
    <p:sldId id="278" r:id="rId25"/>
    <p:sldId id="279" r:id="rId26"/>
    <p:sldId id="284" r:id="rId2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ECD5A-F9FC-4AB0-B224-E2CC84F96617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76BB4-451D-4F9E-A0A0-00E59B40CD2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0143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76BB4-451D-4F9E-A0A0-00E59B40CD21}" type="slidenum">
              <a:rPr lang="pt-PT" smtClean="0"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0016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76BB4-451D-4F9E-A0A0-00E59B40CD21}" type="slidenum">
              <a:rPr lang="pt-PT" smtClean="0"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12991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514F7-1869-AA60-CA67-746D5E1E7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1492C4-D580-7574-1BFF-643CD263F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ACF972F-96AB-E5D8-8DEA-7A59EDF7E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B7F887B-FFD4-8F0B-C4A4-4948CDB6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2CC20C3-3FFF-A361-2AFC-C42D39B63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9606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CFF3D-DC0E-EA7C-873B-B4083F7C4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7BF6654-84C3-306F-D7F8-AC443AB6B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50A4AEB-D119-8C5D-0A5F-4E2C74C86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602E758-14CB-1BDB-1ADB-14CE82D2A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6828171-2BA3-8FDE-7859-CC56B140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181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6738D-2AA0-7EE0-D7F0-592CDB97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3E56BA8-DAD0-98F4-8EE4-69177F081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858587C-F5F0-82FC-5D9D-A3AFDD2E9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8CB86FD-6D77-2C50-5EF6-AFBB7146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155BF96-E03A-9EBA-7A74-9813AFCB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25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55409-58E4-8B34-7585-6A8D3E0E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5CF340D-206B-DBB2-5001-C03D9D3C7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4DD3365-5D49-0AC2-8742-1842EAC02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D8E43DA-9459-3B37-6C59-F35FF2012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8478D7D-93A2-284E-6780-EE38A62D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74302B6-96DB-FBA4-73F5-4DAF67D9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277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EC871-521E-1EFE-7450-2ED72A96B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290FA35-DF47-D6AC-28DD-AEA6010A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F0FA66A-4CA3-30E6-D7B8-F68665891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B7F98BEA-E520-808E-156A-07D0478AA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5DC1985-DC84-5138-E35E-0D8FBF9A6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10D07E5-819C-6042-51CA-78F11E689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548CC2D-C232-0DB6-359C-110AD7122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677EB9C4-A56C-0976-C4DF-DDC8B862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5560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882F3-A3EB-B6DF-AC31-05266216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5003614-5C0F-28DD-A580-66220276A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DD40CB1-5B1D-2FE4-EE09-BE9AB938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A907883-24C9-2F4B-B24B-A6471795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7738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CF5D501-A862-BD79-8714-5264932C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5BF3FBC3-4F91-4251-73E4-082B20DBA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E285490-406A-E9CF-05AC-3427EBD04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860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E9003-ED5B-E6A6-A572-69C52644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33436FF-95B9-85AE-002D-396D470CA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C60BE29-A0CD-8F4D-1A66-2051307E6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AB1C79C-3310-7423-2C97-832F26E2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DB99446-E55B-3D75-8485-CA7ADD07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58A2F5C-9B48-D433-B3CB-48B96DCF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314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30345-01A4-FD59-A7B4-0BF2AB465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5B1F1C4-8A1D-0AD3-CD1D-44F146C22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5D714F2-1E99-87C4-8827-A89824EA8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A8E9A58-55C5-AED7-4E67-4ECF5ACC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36CABB8-92EA-0597-2E5D-6D591D789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C10CB57-70F4-6E28-3F7B-76D31469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8121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7B2CA-513F-34D5-ACF2-2CAB65A8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0D60C27-569F-0357-992A-4B409835F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1DC40CB-E0E4-C35D-3224-66AD604B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FFA42DE-ABA5-870F-1004-592438F2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FE02FF2-B8D5-0BE5-3893-A140E1A4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524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6B12FF-5F9C-EFC3-09A1-2293A20A5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4495499-1635-EF0D-8FDD-D766AD6E0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119CD00-A46B-BCAE-ED3C-B2EC9224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27AC85E-FAD9-9908-2CBA-CD9EF5766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79E7C92-199C-9F73-5455-1FFEF707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1523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764AE763-CB72-3D94-87C0-74DD7DFCF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112D60F-5AF2-6C70-94BA-8752986D4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B80689F-B06D-A88D-AEEA-7804CD582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72C496-94C8-4854-85CF-9D77F00AA031}" type="datetimeFigureOut">
              <a:rPr lang="pt-PT" smtClean="0"/>
              <a:t>16/01/2025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95FE652-24AD-18E4-F7AF-433DF0B3F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496FF3D-5ED7-CF2F-4A5D-BECE8F172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02C63-1BE0-45DA-8585-AAD2090716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8990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6A56EC1-F40C-B598-D871-8165AE09CDB1}"/>
              </a:ext>
            </a:extLst>
          </p:cNvPr>
          <p:cNvSpPr txBox="1"/>
          <p:nvPr/>
        </p:nvSpPr>
        <p:spPr>
          <a:xfrm>
            <a:off x="1514166" y="2323323"/>
            <a:ext cx="9163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5400" b="1" dirty="0">
                <a:solidFill>
                  <a:srgbClr val="C00000"/>
                </a:solidFill>
              </a:rPr>
              <a:t>PROJETO DE MÉRITO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7DAA32-2598-E985-4F5A-3E7860020DA6}"/>
              </a:ext>
            </a:extLst>
          </p:cNvPr>
          <p:cNvSpPr txBox="1"/>
          <p:nvPr/>
        </p:nvSpPr>
        <p:spPr>
          <a:xfrm>
            <a:off x="1514166" y="2967335"/>
            <a:ext cx="9163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/>
              <a:t>APRENDIZAGEM</a:t>
            </a:r>
          </a:p>
        </p:txBody>
      </p:sp>
      <p:pic>
        <p:nvPicPr>
          <p:cNvPr id="1028" name="Picture 4" descr="Associates">
            <a:extLst>
              <a:ext uri="{FF2B5EF4-FFF2-40B4-BE49-F238E27FC236}">
                <a16:creationId xmlns:a16="http://schemas.microsoft.com/office/drawing/2014/main" id="{EBA9B170-0829-2339-45DD-66E6E6B46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63869"/>
            <a:ext cx="3785419" cy="179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042864A-4E84-7786-E136-5D714B5D2083}"/>
              </a:ext>
            </a:extLst>
          </p:cNvPr>
          <p:cNvSpPr txBox="1"/>
          <p:nvPr/>
        </p:nvSpPr>
        <p:spPr>
          <a:xfrm>
            <a:off x="9901084" y="6457890"/>
            <a:ext cx="2290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/>
              <a:t>17 Janeiro de 2025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59A580-5224-8D25-7E0A-C5CA61CA3F39}"/>
              </a:ext>
            </a:extLst>
          </p:cNvPr>
          <p:cNvSpPr txBox="1"/>
          <p:nvPr/>
        </p:nvSpPr>
        <p:spPr>
          <a:xfrm>
            <a:off x="4694901" y="6003199"/>
            <a:ext cx="2802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/>
              <a:t>Grupo 30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B137CB-EFCE-35CE-76FE-D58E1A6DD87A}"/>
              </a:ext>
            </a:extLst>
          </p:cNvPr>
          <p:cNvSpPr txBox="1"/>
          <p:nvPr/>
        </p:nvSpPr>
        <p:spPr>
          <a:xfrm>
            <a:off x="3746088" y="6385601"/>
            <a:ext cx="4699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David Toma | Tiago Costa</a:t>
            </a:r>
          </a:p>
        </p:txBody>
      </p:sp>
    </p:spTree>
    <p:extLst>
      <p:ext uri="{BB962C8B-B14F-4D97-AF65-F5344CB8AC3E}">
        <p14:creationId xmlns:p14="http://schemas.microsoft.com/office/powerpoint/2010/main" val="3888646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F98006-A167-DAC6-70A5-E18549CD3230}"/>
              </a:ext>
            </a:extLst>
          </p:cNvPr>
          <p:cNvSpPr txBox="1"/>
          <p:nvPr/>
        </p:nvSpPr>
        <p:spPr>
          <a:xfrm>
            <a:off x="1971367" y="816079"/>
            <a:ext cx="8249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rgbClr val="C00000"/>
                </a:solidFill>
              </a:rPr>
              <a:t>PROJETO DIVIDIDO EM DUAS PARTES</a:t>
            </a:r>
            <a:endParaRPr lang="pt-PT" sz="32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6A55CE-C75C-9379-0A95-A4E6DB429503}"/>
              </a:ext>
            </a:extLst>
          </p:cNvPr>
          <p:cNvSpPr txBox="1"/>
          <p:nvPr/>
        </p:nvSpPr>
        <p:spPr>
          <a:xfrm>
            <a:off x="1258399" y="2169307"/>
            <a:ext cx="967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>
                <a:solidFill>
                  <a:srgbClr val="C00000"/>
                </a:solidFill>
              </a:rPr>
              <a:t>1.</a:t>
            </a:r>
            <a:r>
              <a:rPr lang="pt-PT" sz="3600" b="1" dirty="0"/>
              <a:t> ANÁLISE DA DISTRIBUIÇÃO DOS DADOS</a:t>
            </a:r>
          </a:p>
          <a:p>
            <a:pPr algn="ctr"/>
            <a:endParaRPr lang="pt-PT" sz="3600" b="1" dirty="0"/>
          </a:p>
          <a:p>
            <a:pPr algn="ctr"/>
            <a:r>
              <a:rPr lang="pt-PT" sz="3600" b="1" dirty="0">
                <a:solidFill>
                  <a:srgbClr val="C00000"/>
                </a:solidFill>
              </a:rPr>
              <a:t>2. </a:t>
            </a:r>
            <a:r>
              <a:rPr lang="pt-PT" sz="3600" b="1" dirty="0"/>
              <a:t>IMPLEMENTAÇÃO DE UMA </a:t>
            </a:r>
            <a:r>
              <a:rPr lang="pt-PT" sz="3600" b="1" i="1" dirty="0"/>
              <a:t>RBFNN</a:t>
            </a:r>
          </a:p>
          <a:p>
            <a:pPr algn="ctr"/>
            <a:endParaRPr lang="pt-PT" sz="3600" b="1" dirty="0"/>
          </a:p>
          <a:p>
            <a:pPr algn="ctr"/>
            <a:r>
              <a:rPr lang="pt-PT" sz="3600" dirty="0"/>
              <a:t>(Discussão de Resultados)</a:t>
            </a:r>
          </a:p>
        </p:txBody>
      </p:sp>
    </p:spTree>
    <p:extLst>
      <p:ext uri="{BB962C8B-B14F-4D97-AF65-F5344CB8AC3E}">
        <p14:creationId xmlns:p14="http://schemas.microsoft.com/office/powerpoint/2010/main" val="416822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BC4F643-FE2D-CC2C-979D-7D29236822D5}"/>
              </a:ext>
            </a:extLst>
          </p:cNvPr>
          <p:cNvSpPr txBox="1"/>
          <p:nvPr/>
        </p:nvSpPr>
        <p:spPr>
          <a:xfrm>
            <a:off x="530942" y="376639"/>
            <a:ext cx="9163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1. </a:t>
            </a:r>
            <a:r>
              <a:rPr lang="pt-PT" sz="2800" b="1" dirty="0">
                <a:solidFill>
                  <a:srgbClr val="C00000"/>
                </a:solidFill>
              </a:rPr>
              <a:t>Análise da Distribuição dos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F3E6A8-3A90-9D30-ED35-49A57F51D556}"/>
              </a:ext>
            </a:extLst>
          </p:cNvPr>
          <p:cNvSpPr txBox="1"/>
          <p:nvPr/>
        </p:nvSpPr>
        <p:spPr>
          <a:xfrm>
            <a:off x="530942" y="928114"/>
            <a:ext cx="3893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/>
              <a:t>EM-CLUSTERING</a:t>
            </a:r>
            <a:endParaRPr lang="pt-PT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2B46712-1A56-32A2-B375-90E53971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94" y="2151227"/>
            <a:ext cx="5448366" cy="410200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42458F4-FAB5-EA5B-FF52-5949BF9819FE}"/>
              </a:ext>
            </a:extLst>
          </p:cNvPr>
          <p:cNvSpPr txBox="1"/>
          <p:nvPr/>
        </p:nvSpPr>
        <p:spPr>
          <a:xfrm>
            <a:off x="546826" y="1423070"/>
            <a:ext cx="11074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Como varia a qualidade (</a:t>
            </a:r>
            <a:r>
              <a:rPr lang="pt-PT" sz="2000" b="1" dirty="0" err="1"/>
              <a:t>Silhouette</a:t>
            </a:r>
            <a:r>
              <a:rPr lang="pt-PT" sz="2000" dirty="0"/>
              <a:t>) para diferentes </a:t>
            </a:r>
            <a:r>
              <a:rPr lang="pt-PT" sz="2000" b="1" i="1" dirty="0"/>
              <a:t>k</a:t>
            </a:r>
            <a:r>
              <a:rPr lang="pt-PT" sz="2000" b="1" dirty="0"/>
              <a:t> clusters </a:t>
            </a:r>
            <a:r>
              <a:rPr lang="pt-PT" sz="2000" dirty="0"/>
              <a:t>construídos com EM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FE721F5-9E71-5737-CDCB-27E298416F19}"/>
              </a:ext>
            </a:extLst>
          </p:cNvPr>
          <p:cNvSpPr txBox="1"/>
          <p:nvPr/>
        </p:nvSpPr>
        <p:spPr>
          <a:xfrm>
            <a:off x="8860160" y="3618271"/>
            <a:ext cx="2889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i="1" dirty="0" err="1"/>
              <a:t>Pearson</a:t>
            </a:r>
            <a:r>
              <a:rPr lang="pt-PT" sz="2400" b="1" i="1" dirty="0"/>
              <a:t> r </a:t>
            </a:r>
            <a:r>
              <a:rPr lang="pt-PT" sz="2400" b="1" dirty="0"/>
              <a:t>= </a:t>
            </a:r>
            <a:r>
              <a:rPr lang="pt-PT" sz="2400" b="1" dirty="0">
                <a:solidFill>
                  <a:srgbClr val="C00000"/>
                </a:solidFill>
              </a:rPr>
              <a:t>-0.755</a:t>
            </a:r>
          </a:p>
        </p:txBody>
      </p:sp>
    </p:spTree>
    <p:extLst>
      <p:ext uri="{BB962C8B-B14F-4D97-AF65-F5344CB8AC3E}">
        <p14:creationId xmlns:p14="http://schemas.microsoft.com/office/powerpoint/2010/main" val="300205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42C58E6-F3AF-4F3C-1C36-FED3DA20E672}"/>
              </a:ext>
            </a:extLst>
          </p:cNvPr>
          <p:cNvSpPr txBox="1"/>
          <p:nvPr/>
        </p:nvSpPr>
        <p:spPr>
          <a:xfrm>
            <a:off x="609599" y="544656"/>
            <a:ext cx="11277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C00000"/>
                </a:solidFill>
              </a:rPr>
              <a:t>LOGISTIC REGRESSION </a:t>
            </a:r>
          </a:p>
          <a:p>
            <a:r>
              <a:rPr lang="pt-PT" sz="2000" dirty="0"/>
              <a:t>(pontos representados por </a:t>
            </a:r>
            <a:r>
              <a:rPr lang="pt-PT" sz="2000" b="1" i="1" dirty="0"/>
              <a:t>vetores de probabilidades </a:t>
            </a:r>
            <a:r>
              <a:rPr lang="pt-PT" sz="2000" dirty="0"/>
              <a:t>de pertencerem a cada um dos </a:t>
            </a:r>
            <a:r>
              <a:rPr lang="pt-PT" sz="2000" i="1" dirty="0"/>
              <a:t>k</a:t>
            </a:r>
            <a:r>
              <a:rPr lang="pt-PT" sz="2000" dirty="0"/>
              <a:t> clusters)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756586-C561-4251-DB4F-07A51BD9EB83}"/>
              </a:ext>
            </a:extLst>
          </p:cNvPr>
          <p:cNvSpPr txBox="1"/>
          <p:nvPr/>
        </p:nvSpPr>
        <p:spPr>
          <a:xfrm>
            <a:off x="609599" y="1561162"/>
            <a:ext cx="10953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/>
              <a:t>Variação da precisão do modelo (</a:t>
            </a:r>
            <a:r>
              <a:rPr lang="pt-PT" sz="2000" b="1" i="1" dirty="0" err="1"/>
              <a:t>Logistic</a:t>
            </a:r>
            <a:r>
              <a:rPr lang="pt-PT" sz="2000" b="1" i="1" dirty="0"/>
              <a:t> </a:t>
            </a:r>
            <a:r>
              <a:rPr lang="pt-PT" sz="2000" b="1" i="1" dirty="0" err="1"/>
              <a:t>Regression</a:t>
            </a:r>
            <a:r>
              <a:rPr lang="pt-PT" sz="2000" b="1" dirty="0"/>
              <a:t>), </a:t>
            </a:r>
            <a:r>
              <a:rPr lang="pt-PT" sz="2000" b="1" i="1" dirty="0" err="1"/>
              <a:t>Silhouette</a:t>
            </a:r>
            <a:r>
              <a:rPr lang="pt-PT" sz="2000" b="1" dirty="0"/>
              <a:t> e </a:t>
            </a:r>
            <a:r>
              <a:rPr lang="pt-PT" sz="2000" b="1" i="1" dirty="0"/>
              <a:t>número de clusters </a:t>
            </a:r>
            <a:r>
              <a:rPr lang="pt-PT" sz="2000" b="1" dirty="0"/>
              <a:t>(EM)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625040-D4E2-A394-DEF2-DF2AD109D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5" y="2262834"/>
            <a:ext cx="5220785" cy="387134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728A479-5F28-5075-4219-DD9C640E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17332"/>
            <a:ext cx="5198808" cy="381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45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7566A-619A-8FFF-C2D5-8223E194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09B2C30-A56A-B27A-8277-42BF408D5A84}"/>
              </a:ext>
            </a:extLst>
          </p:cNvPr>
          <p:cNvSpPr txBox="1"/>
          <p:nvPr/>
        </p:nvSpPr>
        <p:spPr>
          <a:xfrm>
            <a:off x="609599" y="544656"/>
            <a:ext cx="11277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C00000"/>
                </a:solidFill>
              </a:rPr>
              <a:t>LOGISTIC REGRESSION </a:t>
            </a:r>
          </a:p>
          <a:p>
            <a:r>
              <a:rPr lang="pt-PT" sz="2000" dirty="0"/>
              <a:t>(pontos representados por </a:t>
            </a:r>
            <a:r>
              <a:rPr lang="pt-PT" sz="2000" b="1" i="1" dirty="0"/>
              <a:t>vetores de probabilidades </a:t>
            </a:r>
            <a:r>
              <a:rPr lang="pt-PT" sz="2000" dirty="0"/>
              <a:t>de pertencerem a cada um dos </a:t>
            </a:r>
            <a:r>
              <a:rPr lang="pt-PT" sz="2000" i="1" dirty="0"/>
              <a:t>k</a:t>
            </a:r>
            <a:r>
              <a:rPr lang="pt-PT" sz="2000" dirty="0"/>
              <a:t> clusters)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08FEBBB-3DC0-6E76-3369-58F881AF313D}"/>
              </a:ext>
            </a:extLst>
          </p:cNvPr>
          <p:cNvSpPr txBox="1"/>
          <p:nvPr/>
        </p:nvSpPr>
        <p:spPr>
          <a:xfrm>
            <a:off x="609599" y="1561162"/>
            <a:ext cx="10953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/>
              <a:t>Variação da precisão do modelo (</a:t>
            </a:r>
            <a:r>
              <a:rPr lang="pt-PT" sz="2000" b="1" i="1" dirty="0" err="1"/>
              <a:t>Logistic</a:t>
            </a:r>
            <a:r>
              <a:rPr lang="pt-PT" sz="2000" b="1" i="1" dirty="0"/>
              <a:t> </a:t>
            </a:r>
            <a:r>
              <a:rPr lang="pt-PT" sz="2000" b="1" i="1" dirty="0" err="1"/>
              <a:t>Regression</a:t>
            </a:r>
            <a:r>
              <a:rPr lang="pt-PT" sz="2000" b="1" dirty="0"/>
              <a:t>), </a:t>
            </a:r>
            <a:r>
              <a:rPr lang="pt-PT" sz="2000" b="1" i="1" dirty="0" err="1"/>
              <a:t>Silhouette</a:t>
            </a:r>
            <a:r>
              <a:rPr lang="pt-PT" sz="2000" b="1" dirty="0"/>
              <a:t> e </a:t>
            </a:r>
            <a:r>
              <a:rPr lang="pt-PT" sz="2000" b="1" i="1" dirty="0"/>
              <a:t>número de clusters </a:t>
            </a:r>
            <a:r>
              <a:rPr lang="pt-PT" sz="2000" b="1" dirty="0"/>
              <a:t>(EM)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F631880-CA5D-A3E5-4B64-5F2DA42DE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5" y="2262834"/>
            <a:ext cx="5220785" cy="387134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46B2D8C-BB68-D78D-B39D-A33C3D38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17332"/>
            <a:ext cx="5198808" cy="381684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F8E333E-EDFA-B142-26F1-D1A556F14846}"/>
              </a:ext>
            </a:extLst>
          </p:cNvPr>
          <p:cNvSpPr/>
          <p:nvPr/>
        </p:nvSpPr>
        <p:spPr>
          <a:xfrm>
            <a:off x="1435510" y="2546556"/>
            <a:ext cx="1809135" cy="109138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41523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4F42-6570-33F3-0DE6-5BBA992A1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60E0D1F-4697-9E84-CC6E-72E71639E1D6}"/>
              </a:ext>
            </a:extLst>
          </p:cNvPr>
          <p:cNvSpPr txBox="1"/>
          <p:nvPr/>
        </p:nvSpPr>
        <p:spPr>
          <a:xfrm>
            <a:off x="609599" y="544656"/>
            <a:ext cx="11277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C00000"/>
                </a:solidFill>
              </a:rPr>
              <a:t>LOGISTIC REGRESSION </a:t>
            </a:r>
          </a:p>
          <a:p>
            <a:r>
              <a:rPr lang="pt-PT" sz="2000" dirty="0"/>
              <a:t>(pontos representados por </a:t>
            </a:r>
            <a:r>
              <a:rPr lang="pt-PT" sz="2000" b="1" i="1" dirty="0"/>
              <a:t>vetores de probabilidades </a:t>
            </a:r>
            <a:r>
              <a:rPr lang="pt-PT" sz="2000" dirty="0"/>
              <a:t>de pertencerem a cada um dos </a:t>
            </a:r>
            <a:r>
              <a:rPr lang="pt-PT" sz="2000" i="1" dirty="0"/>
              <a:t>k</a:t>
            </a:r>
            <a:r>
              <a:rPr lang="pt-PT" sz="2000" dirty="0"/>
              <a:t> clusters)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4F6FE2-D2BD-AEAE-F881-8514548FCCF9}"/>
              </a:ext>
            </a:extLst>
          </p:cNvPr>
          <p:cNvSpPr txBox="1"/>
          <p:nvPr/>
        </p:nvSpPr>
        <p:spPr>
          <a:xfrm>
            <a:off x="609599" y="1561162"/>
            <a:ext cx="10953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/>
              <a:t>Variação da precisão do modelo (</a:t>
            </a:r>
            <a:r>
              <a:rPr lang="pt-PT" sz="2000" b="1" i="1" dirty="0" err="1"/>
              <a:t>Logistic</a:t>
            </a:r>
            <a:r>
              <a:rPr lang="pt-PT" sz="2000" b="1" i="1" dirty="0"/>
              <a:t> </a:t>
            </a:r>
            <a:r>
              <a:rPr lang="pt-PT" sz="2000" b="1" i="1" dirty="0" err="1"/>
              <a:t>Regression</a:t>
            </a:r>
            <a:r>
              <a:rPr lang="pt-PT" sz="2000" b="1" dirty="0"/>
              <a:t>), </a:t>
            </a:r>
            <a:r>
              <a:rPr lang="pt-PT" sz="2000" b="1" i="1" dirty="0" err="1"/>
              <a:t>Silhouette</a:t>
            </a:r>
            <a:r>
              <a:rPr lang="pt-PT" sz="2000" b="1" dirty="0"/>
              <a:t> e </a:t>
            </a:r>
            <a:r>
              <a:rPr lang="pt-PT" sz="2000" b="1" i="1" dirty="0"/>
              <a:t>número de clusters </a:t>
            </a:r>
            <a:r>
              <a:rPr lang="pt-PT" sz="2000" b="1" dirty="0"/>
              <a:t>(EM)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68DB7FF-04EE-F030-5EC0-8133EF05A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5" y="2262834"/>
            <a:ext cx="5220785" cy="387134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CEA8CBA-7A33-E31B-457C-F6F8D0447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17332"/>
            <a:ext cx="5198808" cy="381684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BE1F2AE-2E77-47C1-D548-63AD4FC2F679}"/>
              </a:ext>
            </a:extLst>
          </p:cNvPr>
          <p:cNvSpPr/>
          <p:nvPr/>
        </p:nvSpPr>
        <p:spPr>
          <a:xfrm>
            <a:off x="7403690" y="2654711"/>
            <a:ext cx="540775" cy="306766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716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2E6558E-7E54-BA2B-3003-D56C4F68C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99548"/>
            <a:ext cx="6554115" cy="665890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A6F639B-6857-639D-007B-533433BE7454}"/>
              </a:ext>
            </a:extLst>
          </p:cNvPr>
          <p:cNvSpPr/>
          <p:nvPr/>
        </p:nvSpPr>
        <p:spPr>
          <a:xfrm rot="19446541">
            <a:off x="3945293" y="563007"/>
            <a:ext cx="2379023" cy="1415089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3CDF1AE-1B3B-94E9-F84D-E83A84D728E5}"/>
              </a:ext>
            </a:extLst>
          </p:cNvPr>
          <p:cNvSpPr txBox="1"/>
          <p:nvPr/>
        </p:nvSpPr>
        <p:spPr>
          <a:xfrm>
            <a:off x="8318090" y="678426"/>
            <a:ext cx="1435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/>
              <a:t>Accuracy</a:t>
            </a:r>
            <a:endParaRPr lang="pt-PT" b="1" dirty="0"/>
          </a:p>
        </p:txBody>
      </p:sp>
    </p:spTree>
    <p:extLst>
      <p:ext uri="{BB962C8B-B14F-4D97-AF65-F5344CB8AC3E}">
        <p14:creationId xmlns:p14="http://schemas.microsoft.com/office/powerpoint/2010/main" val="1863741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D5A5BD1-450A-7BC5-F224-D73C19554F4B}"/>
              </a:ext>
            </a:extLst>
          </p:cNvPr>
          <p:cNvSpPr txBox="1"/>
          <p:nvPr/>
        </p:nvSpPr>
        <p:spPr>
          <a:xfrm>
            <a:off x="1170038" y="667258"/>
            <a:ext cx="9851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>
                <a:solidFill>
                  <a:srgbClr val="C00000"/>
                </a:solidFill>
              </a:rPr>
              <a:t>Conclusões retiradas sobre a Distribuição dos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D51911-ADD4-DC9C-5494-EEE7FAF07661}"/>
              </a:ext>
            </a:extLst>
          </p:cNvPr>
          <p:cNvSpPr txBox="1"/>
          <p:nvPr/>
        </p:nvSpPr>
        <p:spPr>
          <a:xfrm>
            <a:off x="1170039" y="1465006"/>
            <a:ext cx="9851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/>
              <a:t>Existem regiões bem definidas presentes nos dados </a:t>
            </a:r>
          </a:p>
          <a:p>
            <a:pPr algn="ctr"/>
            <a:r>
              <a:rPr lang="pt-PT" sz="2400" dirty="0"/>
              <a:t>(</a:t>
            </a:r>
            <a:r>
              <a:rPr lang="pt-PT" sz="2400" i="1" dirty="0" err="1"/>
              <a:t>Silhouette</a:t>
            </a:r>
            <a:r>
              <a:rPr lang="pt-PT" sz="2400" dirty="0"/>
              <a:t> alta para alguns </a:t>
            </a:r>
            <a:r>
              <a:rPr lang="pt-PT" sz="2400" i="1" dirty="0"/>
              <a:t>k</a:t>
            </a:r>
            <a:r>
              <a:rPr lang="pt-PT" sz="2400" dirty="0"/>
              <a:t> clusters)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2E8AC2A-EA01-0C9C-2E6C-DC283FCC7571}"/>
              </a:ext>
            </a:extLst>
          </p:cNvPr>
          <p:cNvSpPr txBox="1"/>
          <p:nvPr/>
        </p:nvSpPr>
        <p:spPr>
          <a:xfrm>
            <a:off x="2197508" y="2875002"/>
            <a:ext cx="7796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/>
              <a:t>Quando em menor número, as regiões representam bem a estrutura escondida dos dados</a:t>
            </a:r>
            <a:r>
              <a:rPr lang="pt-PT" dirty="0"/>
              <a:t> </a:t>
            </a:r>
          </a:p>
          <a:p>
            <a:pPr algn="ctr"/>
            <a:r>
              <a:rPr lang="pt-PT" sz="2400" dirty="0"/>
              <a:t>(Precisão alta para </a:t>
            </a:r>
            <a:r>
              <a:rPr lang="pt-PT" sz="2400" i="1" dirty="0"/>
              <a:t>k</a:t>
            </a:r>
            <a:r>
              <a:rPr lang="pt-PT" sz="2400" dirty="0"/>
              <a:t> clusters menor)</a:t>
            </a:r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2EAF01DC-1B30-9AFD-CE90-792DC0C1DBED}"/>
              </a:ext>
            </a:extLst>
          </p:cNvPr>
          <p:cNvSpPr/>
          <p:nvPr/>
        </p:nvSpPr>
        <p:spPr>
          <a:xfrm>
            <a:off x="5968179" y="2313579"/>
            <a:ext cx="255639" cy="540914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32169E-31D9-0DE7-B902-9098161BBA6D}"/>
              </a:ext>
            </a:extLst>
          </p:cNvPr>
          <p:cNvSpPr txBox="1"/>
          <p:nvPr/>
        </p:nvSpPr>
        <p:spPr>
          <a:xfrm>
            <a:off x="909483" y="4787571"/>
            <a:ext cx="103730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/>
              <a:t>Poderá favorecer uma implementação de um RBFNN</a:t>
            </a:r>
          </a:p>
          <a:p>
            <a:pPr algn="ctr"/>
            <a:r>
              <a:rPr lang="pt-PT" sz="2400" dirty="0"/>
              <a:t>(Toma em conta a proximidade dos dados a essas regiões (clusters))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74DCF73-EBAE-8E8D-D024-70E3F68C6BF8}"/>
              </a:ext>
            </a:extLst>
          </p:cNvPr>
          <p:cNvSpPr/>
          <p:nvPr/>
        </p:nvSpPr>
        <p:spPr>
          <a:xfrm>
            <a:off x="1238865" y="4591665"/>
            <a:ext cx="9783096" cy="130769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9570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01C1032-5C73-07D1-2E16-36152A347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485" y="1107558"/>
            <a:ext cx="8665029" cy="464288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7CE4975-C62A-A454-3564-9D9D19A90A16}"/>
              </a:ext>
            </a:extLst>
          </p:cNvPr>
          <p:cNvSpPr txBox="1"/>
          <p:nvPr/>
        </p:nvSpPr>
        <p:spPr>
          <a:xfrm>
            <a:off x="530942" y="376639"/>
            <a:ext cx="9163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>
                <a:solidFill>
                  <a:srgbClr val="C00000"/>
                </a:solidFill>
              </a:rPr>
              <a:t>2</a:t>
            </a:r>
            <a:r>
              <a:rPr lang="ru-RU" sz="2800" b="1" dirty="0">
                <a:solidFill>
                  <a:srgbClr val="C00000"/>
                </a:solidFill>
              </a:rPr>
              <a:t>. </a:t>
            </a:r>
            <a:r>
              <a:rPr lang="pt-PT" sz="2800" b="1" dirty="0">
                <a:solidFill>
                  <a:srgbClr val="C00000"/>
                </a:solidFill>
              </a:rPr>
              <a:t>Implementação de uma RBFNN</a:t>
            </a:r>
          </a:p>
        </p:txBody>
      </p:sp>
    </p:spTree>
    <p:extLst>
      <p:ext uri="{BB962C8B-B14F-4D97-AF65-F5344CB8AC3E}">
        <p14:creationId xmlns:p14="http://schemas.microsoft.com/office/powerpoint/2010/main" val="1508034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E952463-5BBE-C5DA-A530-EFAE8C0D5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42" y="2233882"/>
            <a:ext cx="7391542" cy="139991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57AC63F-BCA5-9683-9C86-22D717EBE3F2}"/>
              </a:ext>
            </a:extLst>
          </p:cNvPr>
          <p:cNvSpPr txBox="1"/>
          <p:nvPr/>
        </p:nvSpPr>
        <p:spPr>
          <a:xfrm>
            <a:off x="2204742" y="889862"/>
            <a:ext cx="6621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b="1" dirty="0">
                <a:solidFill>
                  <a:srgbClr val="C00000"/>
                </a:solidFill>
              </a:rPr>
              <a:t>RBF</a:t>
            </a:r>
            <a:r>
              <a:rPr lang="pt-PT" sz="4000" dirty="0"/>
              <a:t> (</a:t>
            </a:r>
            <a:r>
              <a:rPr lang="pt-PT" sz="4000" dirty="0" err="1"/>
              <a:t>Gaussian</a:t>
            </a:r>
            <a:r>
              <a:rPr lang="pt-PT" sz="4000" dirty="0"/>
              <a:t> </a:t>
            </a:r>
            <a:r>
              <a:rPr lang="pt-PT" sz="4000" dirty="0" err="1"/>
              <a:t>Function</a:t>
            </a:r>
            <a:r>
              <a:rPr lang="pt-PT" sz="4000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EC0FE2C-0D1F-9094-A61A-F7793B54255E}"/>
              </a:ext>
            </a:extLst>
          </p:cNvPr>
          <p:cNvSpPr txBox="1"/>
          <p:nvPr/>
        </p:nvSpPr>
        <p:spPr>
          <a:xfrm>
            <a:off x="1939332" y="4272224"/>
            <a:ext cx="6621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i="1" dirty="0"/>
              <a:t>x</a:t>
            </a:r>
            <a:r>
              <a:rPr lang="pt-PT" sz="2800" dirty="0"/>
              <a:t> – </a:t>
            </a:r>
            <a:r>
              <a:rPr lang="pt-PT" sz="2800" b="1" dirty="0"/>
              <a:t>input </a:t>
            </a:r>
            <a:r>
              <a:rPr lang="pt-PT" sz="2800" b="1" dirty="0" err="1"/>
              <a:t>point</a:t>
            </a:r>
            <a:endParaRPr lang="pt-PT" sz="2800" b="1" dirty="0"/>
          </a:p>
          <a:p>
            <a:r>
              <a:rPr lang="pt-PT" sz="2800" i="1" dirty="0"/>
              <a:t>c</a:t>
            </a:r>
            <a:r>
              <a:rPr lang="pt-PT" sz="2800" dirty="0"/>
              <a:t> – </a:t>
            </a:r>
            <a:r>
              <a:rPr lang="pt-PT" sz="2800" b="1" dirty="0" err="1"/>
              <a:t>center</a:t>
            </a:r>
            <a:r>
              <a:rPr lang="pt-PT" sz="2800" dirty="0"/>
              <a:t> </a:t>
            </a:r>
          </a:p>
          <a:p>
            <a:r>
              <a:rPr lang="pt-PT" sz="2800" i="1" dirty="0"/>
              <a:t>s</a:t>
            </a:r>
            <a:r>
              <a:rPr lang="pt-PT" sz="2800" dirty="0"/>
              <a:t> – </a:t>
            </a:r>
            <a:r>
              <a:rPr lang="pt-PT" sz="2800" b="1" dirty="0"/>
              <a:t>spread </a:t>
            </a:r>
          </a:p>
        </p:txBody>
      </p:sp>
      <p:pic>
        <p:nvPicPr>
          <p:cNvPr id="4" name="Picture 2" descr="Gaussian Function -- from Wolfram MathWorld">
            <a:extLst>
              <a:ext uri="{FF2B5EF4-FFF2-40B4-BE49-F238E27FC236}">
                <a16:creationId xmlns:a16="http://schemas.microsoft.com/office/drawing/2014/main" id="{2F32BDA1-EB34-95EB-3C3D-BE4B8F7543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1" b="-7641"/>
          <a:stretch/>
        </p:blipFill>
        <p:spPr bwMode="auto">
          <a:xfrm>
            <a:off x="5736097" y="3923551"/>
            <a:ext cx="4071203" cy="281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667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CA92C4F-B1A7-8829-11B6-3F47A66FA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35" y="4745332"/>
            <a:ext cx="2343477" cy="7525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5D50B10-40C7-C982-CE75-2598A341C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54" y="5064287"/>
            <a:ext cx="4484483" cy="15704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0991573-7883-72EE-88E2-A9AD6DE9C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987" y="715668"/>
            <a:ext cx="7546025" cy="404330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377B969A-4C3F-8231-E094-A015FEC3E6C5}"/>
              </a:ext>
            </a:extLst>
          </p:cNvPr>
          <p:cNvSpPr/>
          <p:nvPr/>
        </p:nvSpPr>
        <p:spPr>
          <a:xfrm>
            <a:off x="6764593" y="715668"/>
            <a:ext cx="3143747" cy="404330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C9855FB-660F-CBEF-726A-95EF6EA4C976}"/>
              </a:ext>
            </a:extLst>
          </p:cNvPr>
          <p:cNvSpPr/>
          <p:nvPr/>
        </p:nvSpPr>
        <p:spPr>
          <a:xfrm>
            <a:off x="2240782" y="715668"/>
            <a:ext cx="4484483" cy="404330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F33113C-8069-58FD-5B77-DDD4413DC64A}"/>
              </a:ext>
            </a:extLst>
          </p:cNvPr>
          <p:cNvSpPr txBox="1"/>
          <p:nvPr/>
        </p:nvSpPr>
        <p:spPr>
          <a:xfrm>
            <a:off x="878311" y="2497092"/>
            <a:ext cx="1740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i="1" dirty="0">
                <a:solidFill>
                  <a:srgbClr val="C00000"/>
                </a:solidFill>
              </a:rPr>
              <a:t>Matriz A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0798FC7-76CA-DAC3-83B1-03D30F654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452" y="5497912"/>
            <a:ext cx="2829320" cy="704948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A3DA713A-8504-40A5-360B-E1ABCC9E573A}"/>
              </a:ext>
            </a:extLst>
          </p:cNvPr>
          <p:cNvSpPr/>
          <p:nvPr/>
        </p:nvSpPr>
        <p:spPr>
          <a:xfrm>
            <a:off x="7233451" y="5517576"/>
            <a:ext cx="2952769" cy="704948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92A3B5F-BECF-A1E3-119B-D2CA670BC582}"/>
              </a:ext>
            </a:extLst>
          </p:cNvPr>
          <p:cNvSpPr txBox="1"/>
          <p:nvPr/>
        </p:nvSpPr>
        <p:spPr>
          <a:xfrm>
            <a:off x="6438564" y="6252020"/>
            <a:ext cx="4875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i="1" dirty="0">
                <a:solidFill>
                  <a:srgbClr val="C00000"/>
                </a:solidFill>
              </a:rPr>
              <a:t>Problema de Otimização Linear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0F5268D-3318-05FE-B7CD-141CAE2FE301}"/>
              </a:ext>
            </a:extLst>
          </p:cNvPr>
          <p:cNvSpPr txBox="1"/>
          <p:nvPr/>
        </p:nvSpPr>
        <p:spPr>
          <a:xfrm>
            <a:off x="849407" y="239950"/>
            <a:ext cx="11277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C00000"/>
                </a:solidFill>
              </a:rPr>
              <a:t>RBFNN – </a:t>
            </a:r>
            <a:r>
              <a:rPr lang="pt-PT" sz="2400" b="1" dirty="0"/>
              <a:t>Forma Matricial</a:t>
            </a:r>
          </a:p>
        </p:txBody>
      </p:sp>
    </p:spTree>
    <p:extLst>
      <p:ext uri="{BB962C8B-B14F-4D97-AF65-F5344CB8AC3E}">
        <p14:creationId xmlns:p14="http://schemas.microsoft.com/office/powerpoint/2010/main" val="3312384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FD790C6-E1D3-143C-3AC3-C274E5F665D0}"/>
              </a:ext>
            </a:extLst>
          </p:cNvPr>
          <p:cNvSpPr txBox="1"/>
          <p:nvPr/>
        </p:nvSpPr>
        <p:spPr>
          <a:xfrm>
            <a:off x="2492477" y="580104"/>
            <a:ext cx="7207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>
                <a:solidFill>
                  <a:srgbClr val="C00000"/>
                </a:solidFill>
              </a:rPr>
              <a:t>Passo adicional na RBFNN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4DEF49-1ED4-63DC-2338-204952BDABD4}"/>
              </a:ext>
            </a:extLst>
          </p:cNvPr>
          <p:cNvSpPr txBox="1"/>
          <p:nvPr/>
        </p:nvSpPr>
        <p:spPr>
          <a:xfrm>
            <a:off x="2492477" y="1226435"/>
            <a:ext cx="7207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i="1" dirty="0" err="1"/>
              <a:t>Backpropagation</a:t>
            </a:r>
            <a:endParaRPr lang="pt-PT" sz="3600" b="1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3EA7C3E-2A6F-5709-43EA-404219E30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69" y="2690828"/>
            <a:ext cx="4982270" cy="11145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8D550AF-6CE0-E870-709A-56B13E8A0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682" y="3851602"/>
            <a:ext cx="6973273" cy="11336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3ECBEBE-8D57-3117-9459-2376FBEB017C}"/>
              </a:ext>
            </a:extLst>
          </p:cNvPr>
          <p:cNvSpPr txBox="1"/>
          <p:nvPr/>
        </p:nvSpPr>
        <p:spPr>
          <a:xfrm>
            <a:off x="7069394" y="3394727"/>
            <a:ext cx="4021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Para os centros das </a:t>
            </a:r>
            <a:r>
              <a:rPr lang="pt-PT" b="1" dirty="0" err="1"/>
              <a:t>RBFs</a:t>
            </a:r>
            <a:r>
              <a:rPr lang="pt-PT" b="1" dirty="0"/>
              <a:t>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1E1F04-8AEC-3D7D-A5DF-E274B453DD3D}"/>
              </a:ext>
            </a:extLst>
          </p:cNvPr>
          <p:cNvSpPr txBox="1"/>
          <p:nvPr/>
        </p:nvSpPr>
        <p:spPr>
          <a:xfrm>
            <a:off x="1793046" y="2275303"/>
            <a:ext cx="4021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Para os pesos das RBFNN:</a:t>
            </a:r>
          </a:p>
        </p:txBody>
      </p:sp>
    </p:spTree>
    <p:extLst>
      <p:ext uri="{BB962C8B-B14F-4D97-AF65-F5344CB8AC3E}">
        <p14:creationId xmlns:p14="http://schemas.microsoft.com/office/powerpoint/2010/main" val="2338011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6B0A0F-D1C9-4982-3FEE-F66F40134396}"/>
              </a:ext>
            </a:extLst>
          </p:cNvPr>
          <p:cNvSpPr txBox="1"/>
          <p:nvPr/>
        </p:nvSpPr>
        <p:spPr>
          <a:xfrm>
            <a:off x="1420761" y="2070312"/>
            <a:ext cx="9350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5400" b="1" dirty="0">
                <a:solidFill>
                  <a:srgbClr val="C00000"/>
                </a:solidFill>
              </a:rPr>
              <a:t>Discussão de Resultados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6E4238-1B67-EF1B-F877-BEDA743D1856}"/>
              </a:ext>
            </a:extLst>
          </p:cNvPr>
          <p:cNvSpPr txBox="1"/>
          <p:nvPr/>
        </p:nvSpPr>
        <p:spPr>
          <a:xfrm>
            <a:off x="1420761" y="2701254"/>
            <a:ext cx="9350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/>
              <a:t>Hipóteses, respostas e conclusões</a:t>
            </a:r>
          </a:p>
        </p:txBody>
      </p:sp>
    </p:spTree>
    <p:extLst>
      <p:ext uri="{BB962C8B-B14F-4D97-AF65-F5344CB8AC3E}">
        <p14:creationId xmlns:p14="http://schemas.microsoft.com/office/powerpoint/2010/main" val="1123809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9441D95-3E92-E807-EFC5-3915BF7E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49" y="573702"/>
            <a:ext cx="7669302" cy="5710596"/>
          </a:xfrm>
          <a:prstGeom prst="rect">
            <a:avLst/>
          </a:prstGeom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9A53C830-A038-ECED-21C1-D0C3FB489D54}"/>
              </a:ext>
            </a:extLst>
          </p:cNvPr>
          <p:cNvCxnSpPr/>
          <p:nvPr/>
        </p:nvCxnSpPr>
        <p:spPr>
          <a:xfrm flipV="1">
            <a:off x="4365522" y="1219200"/>
            <a:ext cx="3018504" cy="35002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D6904897-43EC-3947-3C2A-8972134BA526}"/>
              </a:ext>
            </a:extLst>
          </p:cNvPr>
          <p:cNvSpPr txBox="1"/>
          <p:nvPr/>
        </p:nvSpPr>
        <p:spPr>
          <a:xfrm>
            <a:off x="8534470" y="973392"/>
            <a:ext cx="152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 err="1">
                <a:solidFill>
                  <a:schemeClr val="bg1"/>
                </a:solidFill>
                <a:highlight>
                  <a:srgbClr val="800080"/>
                </a:highlight>
              </a:rPr>
              <a:t>Malign</a:t>
            </a:r>
            <a:endParaRPr lang="pt-PT" sz="2800" b="1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r>
              <a:rPr lang="pt-PT" sz="2800" b="1" dirty="0" err="1">
                <a:highlight>
                  <a:srgbClr val="FFFF00"/>
                </a:highlight>
              </a:rPr>
              <a:t>Benign</a:t>
            </a:r>
            <a:endParaRPr lang="pt-PT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13387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AA60-2427-43B8-0D93-2EE54009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77352EA-45BF-5961-56D0-1E45EA589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49" y="573702"/>
            <a:ext cx="7669302" cy="571059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E3860A6E-C56D-09D0-DDDC-2E57D1740020}"/>
              </a:ext>
            </a:extLst>
          </p:cNvPr>
          <p:cNvSpPr/>
          <p:nvPr/>
        </p:nvSpPr>
        <p:spPr>
          <a:xfrm rot="18843220">
            <a:off x="3741957" y="3244864"/>
            <a:ext cx="1557494" cy="1025986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A919C6A-9BC0-B56C-FC36-4C29AC63EE4D}"/>
              </a:ext>
            </a:extLst>
          </p:cNvPr>
          <p:cNvSpPr txBox="1"/>
          <p:nvPr/>
        </p:nvSpPr>
        <p:spPr>
          <a:xfrm>
            <a:off x="8534470" y="973392"/>
            <a:ext cx="152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 err="1">
                <a:solidFill>
                  <a:schemeClr val="bg1"/>
                </a:solidFill>
                <a:highlight>
                  <a:srgbClr val="800080"/>
                </a:highlight>
              </a:rPr>
              <a:t>Malign</a:t>
            </a:r>
            <a:endParaRPr lang="pt-PT" sz="2800" b="1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r>
              <a:rPr lang="pt-PT" sz="2800" b="1" dirty="0" err="1">
                <a:highlight>
                  <a:srgbClr val="FFFF00"/>
                </a:highlight>
              </a:rPr>
              <a:t>Benign</a:t>
            </a:r>
            <a:endParaRPr lang="pt-PT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07343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44FCF8D-81D3-A0E8-C234-0787B8CA2719}"/>
              </a:ext>
            </a:extLst>
          </p:cNvPr>
          <p:cNvSpPr txBox="1"/>
          <p:nvPr/>
        </p:nvSpPr>
        <p:spPr>
          <a:xfrm>
            <a:off x="994787" y="371790"/>
            <a:ext cx="5546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b="1" dirty="0">
                <a:solidFill>
                  <a:srgbClr val="C00000"/>
                </a:solidFill>
              </a:rPr>
              <a:t>EM-CLUSTERING </a:t>
            </a:r>
            <a:r>
              <a:rPr lang="pt-PT" sz="3600" dirty="0"/>
              <a:t>(</a:t>
            </a:r>
            <a:r>
              <a:rPr lang="pt-PT" sz="3600" i="1" dirty="0"/>
              <a:t>k</a:t>
            </a:r>
            <a:r>
              <a:rPr lang="pt-PT" sz="3600" dirty="0"/>
              <a:t> = 2)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9B55089-335B-E375-226D-9CB8ECC37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8121"/>
            <a:ext cx="12192000" cy="4474966"/>
          </a:xfrm>
          <a:prstGeom prst="rect">
            <a:avLst/>
          </a:prstGeom>
        </p:spPr>
      </p:pic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F7E9BB8B-94B6-D8E7-1358-35AD45577951}"/>
              </a:ext>
            </a:extLst>
          </p:cNvPr>
          <p:cNvSpPr/>
          <p:nvPr/>
        </p:nvSpPr>
        <p:spPr>
          <a:xfrm rot="16200000">
            <a:off x="3237191" y="5789160"/>
            <a:ext cx="570271" cy="21631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9DA26E-318D-4554-F9F3-5C8F927DC18F}"/>
              </a:ext>
            </a:extLst>
          </p:cNvPr>
          <p:cNvSpPr/>
          <p:nvPr/>
        </p:nvSpPr>
        <p:spPr>
          <a:xfrm rot="18843220">
            <a:off x="1305735" y="3189740"/>
            <a:ext cx="1369720" cy="88063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5AA65D-5F9E-5A55-A2A7-661FEC139FF8}"/>
              </a:ext>
            </a:extLst>
          </p:cNvPr>
          <p:cNvSpPr/>
          <p:nvPr/>
        </p:nvSpPr>
        <p:spPr>
          <a:xfrm rot="18843220">
            <a:off x="6960772" y="3189741"/>
            <a:ext cx="1369720" cy="88063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EAE2DE0-225E-05E2-9782-3124F960775B}"/>
              </a:ext>
            </a:extLst>
          </p:cNvPr>
          <p:cNvSpPr txBox="1"/>
          <p:nvPr/>
        </p:nvSpPr>
        <p:spPr>
          <a:xfrm>
            <a:off x="1171011" y="6301543"/>
            <a:ext cx="4702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/>
              <a:t>Classificação Real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0D43FCC-0F99-100A-8A68-566B75BDF7F8}"/>
              </a:ext>
            </a:extLst>
          </p:cNvPr>
          <p:cNvSpPr txBox="1"/>
          <p:nvPr/>
        </p:nvSpPr>
        <p:spPr>
          <a:xfrm>
            <a:off x="5333567" y="5766952"/>
            <a:ext cx="6455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>
                <a:solidFill>
                  <a:srgbClr val="C00000"/>
                </a:solidFill>
              </a:rPr>
              <a:t>Existe um certo grau de relação dos clusters com a real classificação dos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654ADF-A5D5-41C1-5830-7BAA71ABC1CC}"/>
              </a:ext>
            </a:extLst>
          </p:cNvPr>
          <p:cNvSpPr txBox="1"/>
          <p:nvPr/>
        </p:nvSpPr>
        <p:spPr>
          <a:xfrm>
            <a:off x="5086372" y="1443138"/>
            <a:ext cx="14944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 err="1">
                <a:solidFill>
                  <a:schemeClr val="bg1"/>
                </a:solidFill>
                <a:highlight>
                  <a:srgbClr val="800080"/>
                </a:highlight>
              </a:rPr>
              <a:t>Malign</a:t>
            </a:r>
            <a:endParaRPr lang="pt-PT" sz="2000" b="1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r>
              <a:rPr lang="pt-PT" sz="2000" b="1" dirty="0" err="1">
                <a:highlight>
                  <a:srgbClr val="FFFF00"/>
                </a:highlight>
              </a:rPr>
              <a:t>Benign</a:t>
            </a:r>
            <a:endParaRPr lang="pt-PT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57683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8E64A68-9957-38CC-FF2C-A21EA549C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23" y="187037"/>
            <a:ext cx="4225555" cy="800294"/>
          </a:xfrm>
          <a:prstGeom prst="rect">
            <a:avLst/>
          </a:prstGeom>
        </p:spPr>
      </p:pic>
      <p:pic>
        <p:nvPicPr>
          <p:cNvPr id="1026" name="Picture 2" descr="Gaussian Function -- from Wolfram MathWorld">
            <a:extLst>
              <a:ext uri="{FF2B5EF4-FFF2-40B4-BE49-F238E27FC236}">
                <a16:creationId xmlns:a16="http://schemas.microsoft.com/office/drawing/2014/main" id="{C11DDD5C-8ECE-2ACB-170E-2D946AC7D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65" y="1190486"/>
            <a:ext cx="3411794" cy="235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9E98D14-A91E-7CDE-46EB-25E6153EEB8F}"/>
              </a:ext>
            </a:extLst>
          </p:cNvPr>
          <p:cNvSpPr txBox="1"/>
          <p:nvPr/>
        </p:nvSpPr>
        <p:spPr>
          <a:xfrm>
            <a:off x="521110" y="3753465"/>
            <a:ext cx="5397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>
                <a:solidFill>
                  <a:srgbClr val="C00000"/>
                </a:solidFill>
              </a:rPr>
              <a:t>Valor de cada RBF num ponto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8209B7C-F971-3C81-3660-20BEF7F57E91}"/>
              </a:ext>
            </a:extLst>
          </p:cNvPr>
          <p:cNvSpPr txBox="1"/>
          <p:nvPr/>
        </p:nvSpPr>
        <p:spPr>
          <a:xfrm>
            <a:off x="294967" y="4950406"/>
            <a:ext cx="52254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/>
              <a:t>Influência de cada cluster na classificação desse ponto</a:t>
            </a:r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A094B586-30E5-9476-0E63-F28C5AB0E202}"/>
              </a:ext>
            </a:extLst>
          </p:cNvPr>
          <p:cNvSpPr/>
          <p:nvPr/>
        </p:nvSpPr>
        <p:spPr>
          <a:xfrm>
            <a:off x="2779882" y="4362198"/>
            <a:ext cx="255639" cy="540914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72B8D13-ED60-D686-6BE6-9276E37E81EC}"/>
              </a:ext>
            </a:extLst>
          </p:cNvPr>
          <p:cNvSpPr/>
          <p:nvPr/>
        </p:nvSpPr>
        <p:spPr>
          <a:xfrm>
            <a:off x="6066503" y="-64168"/>
            <a:ext cx="88490" cy="705956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620E39-FAC4-F896-46C4-D0FAE4A40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662" y="814196"/>
            <a:ext cx="2343477" cy="75258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504C08C-46DA-7DAA-CE35-5D850F4AB2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3742" y="1872481"/>
            <a:ext cx="2829320" cy="70494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F9CBF95-EADB-67BC-354D-930CDC6BAAAB}"/>
              </a:ext>
            </a:extLst>
          </p:cNvPr>
          <p:cNvSpPr/>
          <p:nvPr/>
        </p:nvSpPr>
        <p:spPr>
          <a:xfrm>
            <a:off x="7693741" y="1892145"/>
            <a:ext cx="2952769" cy="704948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F737291-B857-7163-1826-DB297E4A80C6}"/>
              </a:ext>
            </a:extLst>
          </p:cNvPr>
          <p:cNvSpPr txBox="1"/>
          <p:nvPr/>
        </p:nvSpPr>
        <p:spPr>
          <a:xfrm>
            <a:off x="5123197" y="3753465"/>
            <a:ext cx="7934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>
                <a:solidFill>
                  <a:srgbClr val="C00000"/>
                </a:solidFill>
              </a:rPr>
              <a:t>Pesos associados a cada RBF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BC2D4F4-A01B-19E4-DB06-6812CE74CCEC}"/>
              </a:ext>
            </a:extLst>
          </p:cNvPr>
          <p:cNvSpPr txBox="1"/>
          <p:nvPr/>
        </p:nvSpPr>
        <p:spPr>
          <a:xfrm>
            <a:off x="6402325" y="4938044"/>
            <a:ext cx="51390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/>
              <a:t>Significância geral de cada região na classificação</a:t>
            </a:r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F4D9B0FC-BC23-41A8-C0B2-636A08F6574A}"/>
              </a:ext>
            </a:extLst>
          </p:cNvPr>
          <p:cNvSpPr/>
          <p:nvPr/>
        </p:nvSpPr>
        <p:spPr>
          <a:xfrm>
            <a:off x="8986980" y="4327045"/>
            <a:ext cx="255639" cy="540914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52866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962DFB4-ECE2-5BFB-C36E-10B0D5060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32" y="1053331"/>
            <a:ext cx="5415201" cy="418358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F72EA40-0438-B444-419D-59CD68416FFF}"/>
              </a:ext>
            </a:extLst>
          </p:cNvPr>
          <p:cNvSpPr txBox="1"/>
          <p:nvPr/>
        </p:nvSpPr>
        <p:spPr>
          <a:xfrm>
            <a:off x="6196485" y="853276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>
                <a:highlight>
                  <a:srgbClr val="FFFF00"/>
                </a:highlight>
              </a:rPr>
              <a:t>Cluster 1 </a:t>
            </a:r>
            <a:r>
              <a:rPr lang="pt-PT" sz="2000" b="1" dirty="0"/>
              <a:t>é mais denso que o </a:t>
            </a:r>
            <a:r>
              <a:rPr lang="pt-PT" sz="2000" b="1" dirty="0">
                <a:solidFill>
                  <a:schemeClr val="bg1"/>
                </a:solidFill>
                <a:highlight>
                  <a:srgbClr val="800080"/>
                </a:highlight>
              </a:rPr>
              <a:t>Cluster 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BEE7A6-4BA4-0F63-9065-B192C310093F}"/>
              </a:ext>
            </a:extLst>
          </p:cNvPr>
          <p:cNvSpPr txBox="1"/>
          <p:nvPr/>
        </p:nvSpPr>
        <p:spPr>
          <a:xfrm>
            <a:off x="6196485" y="1819593"/>
            <a:ext cx="5233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/>
              <a:t>Um ponto para ser posto no </a:t>
            </a:r>
            <a:r>
              <a:rPr lang="pt-PT" sz="2000" b="1" dirty="0">
                <a:highlight>
                  <a:srgbClr val="FFFF00"/>
                </a:highlight>
              </a:rPr>
              <a:t>Cluster 1</a:t>
            </a:r>
            <a:r>
              <a:rPr lang="pt-PT" sz="2000" b="1" dirty="0"/>
              <a:t> tem de estar bem próximo ao seu centro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1435B7-9B96-6918-5053-1168C5D4C333}"/>
              </a:ext>
            </a:extLst>
          </p:cNvPr>
          <p:cNvSpPr txBox="1"/>
          <p:nvPr/>
        </p:nvSpPr>
        <p:spPr>
          <a:xfrm>
            <a:off x="6246724" y="3093687"/>
            <a:ext cx="533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>
                <a:solidFill>
                  <a:schemeClr val="bg1"/>
                </a:solidFill>
                <a:highlight>
                  <a:srgbClr val="800080"/>
                </a:highlight>
              </a:rPr>
              <a:t>Cluster 2</a:t>
            </a:r>
            <a:r>
              <a:rPr lang="pt-PT" sz="2000" b="1" dirty="0"/>
              <a:t> mais “tolerante” a distâncias maiores ao seu centro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957BEC-31F2-CA1E-8B51-5AF9E991F4BC}"/>
              </a:ext>
            </a:extLst>
          </p:cNvPr>
          <p:cNvSpPr txBox="1"/>
          <p:nvPr/>
        </p:nvSpPr>
        <p:spPr>
          <a:xfrm>
            <a:off x="6347207" y="4569776"/>
            <a:ext cx="5133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Apenas pontos próximos ao centro do </a:t>
            </a:r>
            <a:r>
              <a:rPr lang="pt-PT" sz="1800" b="1" dirty="0">
                <a:highlight>
                  <a:srgbClr val="FFFF00"/>
                </a:highlight>
              </a:rPr>
              <a:t>Cluster 1</a:t>
            </a:r>
            <a:r>
              <a:rPr lang="pt-PT" b="1" dirty="0"/>
              <a:t> vão ter uma influência significativa do </a:t>
            </a:r>
            <a:r>
              <a:rPr lang="pt-PT" sz="1800" b="1" dirty="0">
                <a:highlight>
                  <a:srgbClr val="FFFF00"/>
                </a:highlight>
              </a:rPr>
              <a:t>Cluster 1</a:t>
            </a:r>
            <a:r>
              <a:rPr lang="pt-PT" b="1" dirty="0"/>
              <a:t> na sua classificação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6CA1577-8ED8-B8DF-8C1E-7F5C7773AAEE}"/>
              </a:ext>
            </a:extLst>
          </p:cNvPr>
          <p:cNvSpPr/>
          <p:nvPr/>
        </p:nvSpPr>
        <p:spPr>
          <a:xfrm>
            <a:off x="6246724" y="4499387"/>
            <a:ext cx="5334000" cy="1064108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3089380-2D66-2EAD-D5F0-29C5F95A2D55}"/>
              </a:ext>
            </a:extLst>
          </p:cNvPr>
          <p:cNvSpPr txBox="1"/>
          <p:nvPr/>
        </p:nvSpPr>
        <p:spPr>
          <a:xfrm>
            <a:off x="6296963" y="5797355"/>
            <a:ext cx="5233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>
                <a:solidFill>
                  <a:srgbClr val="C00000"/>
                </a:solidFill>
              </a:rPr>
              <a:t>Poderá ser uma das limitações</a:t>
            </a:r>
          </a:p>
        </p:txBody>
      </p:sp>
    </p:spTree>
    <p:extLst>
      <p:ext uri="{BB962C8B-B14F-4D97-AF65-F5344CB8AC3E}">
        <p14:creationId xmlns:p14="http://schemas.microsoft.com/office/powerpoint/2010/main" val="343242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EBC1347-FA53-ACAE-DBBC-CCFEAC671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229"/>
            <a:ext cx="12192000" cy="637963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FD50F8C-6B68-839A-CCEB-C3D850D7C5DB}"/>
              </a:ext>
            </a:extLst>
          </p:cNvPr>
          <p:cNvSpPr/>
          <p:nvPr/>
        </p:nvSpPr>
        <p:spPr>
          <a:xfrm rot="18843220">
            <a:off x="3764660" y="2810016"/>
            <a:ext cx="1574486" cy="1019983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08F100-DB40-0A9D-32DB-421C7531B802}"/>
              </a:ext>
            </a:extLst>
          </p:cNvPr>
          <p:cNvSpPr txBox="1"/>
          <p:nvPr/>
        </p:nvSpPr>
        <p:spPr>
          <a:xfrm>
            <a:off x="9527458" y="1514167"/>
            <a:ext cx="210410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/>
              <a:t>Verdadeiro:</a:t>
            </a:r>
          </a:p>
          <a:p>
            <a:r>
              <a:rPr lang="pt-PT" sz="2000" b="1" dirty="0" err="1">
                <a:highlight>
                  <a:srgbClr val="FFFF00"/>
                </a:highlight>
              </a:rPr>
              <a:t>Benign</a:t>
            </a:r>
            <a:endParaRPr lang="pt-PT" sz="2000" b="1" dirty="0">
              <a:highlight>
                <a:srgbClr val="FFFF00"/>
              </a:highlight>
            </a:endParaRPr>
          </a:p>
          <a:p>
            <a:r>
              <a:rPr lang="pt-PT" sz="2000" b="1" dirty="0" err="1">
                <a:solidFill>
                  <a:schemeClr val="bg1"/>
                </a:solidFill>
                <a:highlight>
                  <a:srgbClr val="008000"/>
                </a:highlight>
              </a:rPr>
              <a:t>Malign</a:t>
            </a:r>
            <a:endParaRPr lang="pt-PT" sz="2000" b="1" dirty="0">
              <a:solidFill>
                <a:schemeClr val="bg1"/>
              </a:solidFill>
              <a:highlight>
                <a:srgbClr val="008000"/>
              </a:highlight>
            </a:endParaRPr>
          </a:p>
          <a:p>
            <a:endParaRPr lang="pt-PT" sz="2000" b="1" dirty="0">
              <a:highlight>
                <a:srgbClr val="008000"/>
              </a:highlight>
            </a:endParaRPr>
          </a:p>
          <a:p>
            <a:r>
              <a:rPr lang="pt-PT" sz="2000" b="1" dirty="0"/>
              <a:t>Falso:</a:t>
            </a:r>
          </a:p>
          <a:p>
            <a:r>
              <a:rPr lang="pt-PT" sz="2000" b="1" dirty="0" err="1">
                <a:solidFill>
                  <a:schemeClr val="bg1"/>
                </a:solidFill>
                <a:highlight>
                  <a:srgbClr val="800080"/>
                </a:highlight>
              </a:rPr>
              <a:t>Benign</a:t>
            </a:r>
            <a:endParaRPr lang="pt-PT" sz="2000" b="1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r>
              <a:rPr lang="pt-PT" sz="2000" b="1" dirty="0" err="1">
                <a:solidFill>
                  <a:schemeClr val="bg1"/>
                </a:solidFill>
                <a:highlight>
                  <a:srgbClr val="000080"/>
                </a:highlight>
              </a:rPr>
              <a:t>Malign</a:t>
            </a:r>
            <a:endParaRPr lang="pt-PT" sz="2000" b="1" dirty="0">
              <a:solidFill>
                <a:schemeClr val="bg1"/>
              </a:solidFill>
              <a:highlight>
                <a:srgbClr val="000080"/>
              </a:highlight>
            </a:endParaRPr>
          </a:p>
          <a:p>
            <a:endParaRPr lang="pt-PT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73833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94E59-93DB-F2F2-6F93-963D977E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9DC1E2A-A20C-B2EE-1E48-E9F7AA12F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229"/>
            <a:ext cx="12192000" cy="637963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0D528EF-8685-2E4D-E659-D5F54CDF33C0}"/>
              </a:ext>
            </a:extLst>
          </p:cNvPr>
          <p:cNvSpPr/>
          <p:nvPr/>
        </p:nvSpPr>
        <p:spPr>
          <a:xfrm rot="19304706">
            <a:off x="4552400" y="1184157"/>
            <a:ext cx="2646364" cy="1444567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389F62-2D71-93C8-1686-EBA2FDECDD65}"/>
              </a:ext>
            </a:extLst>
          </p:cNvPr>
          <p:cNvSpPr txBox="1"/>
          <p:nvPr/>
        </p:nvSpPr>
        <p:spPr>
          <a:xfrm>
            <a:off x="9242323" y="2319830"/>
            <a:ext cx="2723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C00000"/>
                </a:solidFill>
              </a:rPr>
              <a:t>Menor influência do Cluster 1</a:t>
            </a:r>
          </a:p>
        </p:txBody>
      </p:sp>
    </p:spTree>
    <p:extLst>
      <p:ext uri="{BB962C8B-B14F-4D97-AF65-F5344CB8AC3E}">
        <p14:creationId xmlns:p14="http://schemas.microsoft.com/office/powerpoint/2010/main" val="1204255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C5811-5029-BDD6-BFBF-B7A84770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A9B8C38-9625-9596-83F4-78C25974C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229"/>
            <a:ext cx="12192000" cy="637963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08727F4-D123-5A80-63F3-2D056862EA59}"/>
              </a:ext>
            </a:extLst>
          </p:cNvPr>
          <p:cNvSpPr/>
          <p:nvPr/>
        </p:nvSpPr>
        <p:spPr>
          <a:xfrm rot="17795307">
            <a:off x="4433645" y="3360981"/>
            <a:ext cx="1574486" cy="450751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CFC97D8-84F3-59C0-BB0A-30EF87621915}"/>
              </a:ext>
            </a:extLst>
          </p:cNvPr>
          <p:cNvSpPr txBox="1"/>
          <p:nvPr/>
        </p:nvSpPr>
        <p:spPr>
          <a:xfrm>
            <a:off x="9193161" y="2359159"/>
            <a:ext cx="31659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rgbClr val="C00000"/>
                </a:solidFill>
              </a:rPr>
              <a:t>Região de sobreposição</a:t>
            </a:r>
          </a:p>
          <a:p>
            <a:r>
              <a:rPr lang="pt-PT" sz="2000" b="1" dirty="0"/>
              <a:t>Maior influência do Cluster 1 por proximidade</a:t>
            </a:r>
          </a:p>
        </p:txBody>
      </p:sp>
    </p:spTree>
    <p:extLst>
      <p:ext uri="{BB962C8B-B14F-4D97-AF65-F5344CB8AC3E}">
        <p14:creationId xmlns:p14="http://schemas.microsoft.com/office/powerpoint/2010/main" val="1636787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17D18A2-FCA1-7F3B-7E48-4746BAD72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617" y="979063"/>
            <a:ext cx="2343477" cy="7525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79C4673-ADA0-0A85-1266-411B04894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534" y="1839801"/>
            <a:ext cx="2829320" cy="70494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297372A-CFD9-C3FB-AE47-A2D643EA65D9}"/>
              </a:ext>
            </a:extLst>
          </p:cNvPr>
          <p:cNvSpPr/>
          <p:nvPr/>
        </p:nvSpPr>
        <p:spPr>
          <a:xfrm>
            <a:off x="4529533" y="1859465"/>
            <a:ext cx="2952769" cy="704948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8DBFB2-DCD8-D0AF-8021-F34B891D876C}"/>
              </a:ext>
            </a:extLst>
          </p:cNvPr>
          <p:cNvSpPr txBox="1"/>
          <p:nvPr/>
        </p:nvSpPr>
        <p:spPr>
          <a:xfrm>
            <a:off x="1632153" y="3198167"/>
            <a:ext cx="8927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/>
              <a:t>Quase todos os pontos do Cluster 1 são de classe “</a:t>
            </a:r>
            <a:r>
              <a:rPr lang="pt-PT" sz="2400" b="1" i="1" dirty="0" err="1"/>
              <a:t>Benign</a:t>
            </a:r>
            <a:r>
              <a:rPr lang="pt-PT" sz="2400" b="1" dirty="0"/>
              <a:t>”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7CB04A6-889B-DFF2-0812-1F1ACE6605CE}"/>
              </a:ext>
            </a:extLst>
          </p:cNvPr>
          <p:cNvSpPr txBox="1"/>
          <p:nvPr/>
        </p:nvSpPr>
        <p:spPr>
          <a:xfrm>
            <a:off x="1632153" y="4223081"/>
            <a:ext cx="9379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dirty="0"/>
              <a:t>Pesos vão ser calculados de modo a que </a:t>
            </a:r>
            <a:r>
              <a:rPr lang="pt-PT" sz="2400" b="1" dirty="0"/>
              <a:t>pontos suficientemente próximos ao </a:t>
            </a:r>
            <a:r>
              <a:rPr lang="pt-PT" sz="2400" b="1" dirty="0">
                <a:solidFill>
                  <a:srgbClr val="C00000"/>
                </a:solidFill>
              </a:rPr>
              <a:t>Cluster 1</a:t>
            </a:r>
            <a:r>
              <a:rPr lang="pt-PT" sz="2400" b="1" dirty="0"/>
              <a:t> terão classificação “</a:t>
            </a:r>
            <a:r>
              <a:rPr lang="pt-PT" sz="2400" b="1" i="1" dirty="0" err="1">
                <a:solidFill>
                  <a:srgbClr val="C00000"/>
                </a:solidFill>
              </a:rPr>
              <a:t>Benign</a:t>
            </a:r>
            <a:r>
              <a:rPr lang="pt-PT" sz="2400" b="1" dirty="0"/>
              <a:t>”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9B0382-7031-DC9C-D54A-D653B9215C54}"/>
              </a:ext>
            </a:extLst>
          </p:cNvPr>
          <p:cNvSpPr txBox="1"/>
          <p:nvPr/>
        </p:nvSpPr>
        <p:spPr>
          <a:xfrm>
            <a:off x="2389236" y="5617327"/>
            <a:ext cx="7413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>
                <a:solidFill>
                  <a:srgbClr val="C00000"/>
                </a:solidFill>
              </a:rPr>
              <a:t>Difícil classificar a região de sobreposição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BB2C0B85-053B-BD59-EBA5-95A41B390EDC}"/>
              </a:ext>
            </a:extLst>
          </p:cNvPr>
          <p:cNvSpPr/>
          <p:nvPr/>
        </p:nvSpPr>
        <p:spPr>
          <a:xfrm>
            <a:off x="6005917" y="3682167"/>
            <a:ext cx="255639" cy="540914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AAA6FB1C-F70B-9402-58A3-6504AAA017D0}"/>
              </a:ext>
            </a:extLst>
          </p:cNvPr>
          <p:cNvSpPr/>
          <p:nvPr/>
        </p:nvSpPr>
        <p:spPr>
          <a:xfrm>
            <a:off x="6013018" y="5076413"/>
            <a:ext cx="255639" cy="540914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1599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C554973-659F-8AA6-455D-14DA008740FB}"/>
              </a:ext>
            </a:extLst>
          </p:cNvPr>
          <p:cNvSpPr txBox="1"/>
          <p:nvPr/>
        </p:nvSpPr>
        <p:spPr>
          <a:xfrm>
            <a:off x="1907458" y="924232"/>
            <a:ext cx="86327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b="1" i="1" dirty="0" err="1">
                <a:solidFill>
                  <a:srgbClr val="C00000"/>
                </a:solidFill>
              </a:rPr>
              <a:t>Backpropagation</a:t>
            </a:r>
            <a:r>
              <a:rPr lang="pt-PT" sz="3600" b="1" i="1" dirty="0">
                <a:solidFill>
                  <a:srgbClr val="C00000"/>
                </a:solidFill>
              </a:rPr>
              <a:t> </a:t>
            </a:r>
          </a:p>
          <a:p>
            <a:r>
              <a:rPr lang="pt-PT" sz="2800" dirty="0"/>
              <a:t>como correção dos erros causados pelo </a:t>
            </a:r>
            <a:r>
              <a:rPr lang="pt-PT" sz="2800" dirty="0" err="1"/>
              <a:t>Clustering</a:t>
            </a:r>
            <a:endParaRPr lang="pt-PT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560A37-A36E-68EE-4F08-04FF6AD07D6E}"/>
              </a:ext>
            </a:extLst>
          </p:cNvPr>
          <p:cNvSpPr txBox="1"/>
          <p:nvPr/>
        </p:nvSpPr>
        <p:spPr>
          <a:xfrm>
            <a:off x="1882876" y="2612004"/>
            <a:ext cx="842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000" b="1" dirty="0">
                <a:solidFill>
                  <a:srgbClr val="C00000"/>
                </a:solidFill>
              </a:rPr>
              <a:t>Motivação: </a:t>
            </a:r>
            <a:r>
              <a:rPr lang="pt-PT" sz="2000" b="1" dirty="0"/>
              <a:t>Contribuir com algum </a:t>
            </a:r>
            <a:r>
              <a:rPr lang="pt-PT" sz="2000" b="1" dirty="0" err="1"/>
              <a:t>supervised</a:t>
            </a:r>
            <a:r>
              <a:rPr lang="pt-PT" sz="2000" b="1" dirty="0"/>
              <a:t> background que ajustará melhor os centroides dos Clusters, para potenciar melhores resultados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1DE587-8A8D-785B-681D-B0258CB10E50}"/>
              </a:ext>
            </a:extLst>
          </p:cNvPr>
          <p:cNvSpPr txBox="1"/>
          <p:nvPr/>
        </p:nvSpPr>
        <p:spPr>
          <a:xfrm>
            <a:off x="1882876" y="3822290"/>
            <a:ext cx="8426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000" b="1" dirty="0">
                <a:solidFill>
                  <a:srgbClr val="C00000"/>
                </a:solidFill>
              </a:rPr>
              <a:t>Assumimos: </a:t>
            </a:r>
            <a:r>
              <a:rPr lang="pt-PT" sz="2000" b="1" dirty="0"/>
              <a:t>Os clusters do modelo já se encontram num bom ponto de partida, e apenas precisam de ajustes finos </a:t>
            </a:r>
          </a:p>
          <a:p>
            <a:pPr algn="just"/>
            <a:r>
              <a:rPr lang="pt-PT" sz="2000" i="1" dirty="0"/>
              <a:t>(Escapar ao problema dos mínimos locais da inicialização aleatória)</a:t>
            </a:r>
          </a:p>
        </p:txBody>
      </p:sp>
    </p:spTree>
    <p:extLst>
      <p:ext uri="{BB962C8B-B14F-4D97-AF65-F5344CB8AC3E}">
        <p14:creationId xmlns:p14="http://schemas.microsoft.com/office/powerpoint/2010/main" val="279695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D60640E-2486-1A38-75CE-04A9F4D8E2E1}"/>
              </a:ext>
            </a:extLst>
          </p:cNvPr>
          <p:cNvSpPr txBox="1"/>
          <p:nvPr/>
        </p:nvSpPr>
        <p:spPr>
          <a:xfrm>
            <a:off x="1986116" y="943898"/>
            <a:ext cx="82492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 err="1">
                <a:solidFill>
                  <a:srgbClr val="C00000"/>
                </a:solidFill>
              </a:rPr>
              <a:t>Backpropagation</a:t>
            </a:r>
            <a:r>
              <a:rPr lang="pt-PT" sz="2800" b="1" dirty="0">
                <a:solidFill>
                  <a:srgbClr val="C00000"/>
                </a:solidFill>
              </a:rPr>
              <a:t> </a:t>
            </a:r>
            <a:r>
              <a:rPr lang="pt-PT" sz="2800" b="1" dirty="0"/>
              <a:t>leva a classificações ligeiramente melhores em alguns casos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D8B342-A7BE-7A15-01ED-B03AFCC15233}"/>
              </a:ext>
            </a:extLst>
          </p:cNvPr>
          <p:cNvSpPr txBox="1"/>
          <p:nvPr/>
        </p:nvSpPr>
        <p:spPr>
          <a:xfrm>
            <a:off x="2212257" y="2349910"/>
            <a:ext cx="80231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/>
              <a:t>Melhoria poderia ser mais significativa com o </a:t>
            </a:r>
            <a:r>
              <a:rPr lang="pt-PT" sz="2800" b="1" dirty="0" err="1">
                <a:solidFill>
                  <a:srgbClr val="C00000"/>
                </a:solidFill>
              </a:rPr>
              <a:t>learning</a:t>
            </a:r>
            <a:r>
              <a:rPr lang="pt-PT" sz="2800" b="1" dirty="0">
                <a:solidFill>
                  <a:srgbClr val="C00000"/>
                </a:solidFill>
              </a:rPr>
              <a:t> rate ótimo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F52C5A-0B29-2298-F157-F4DEB5332569}"/>
              </a:ext>
            </a:extLst>
          </p:cNvPr>
          <p:cNvSpPr txBox="1"/>
          <p:nvPr/>
        </p:nvSpPr>
        <p:spPr>
          <a:xfrm>
            <a:off x="1155290" y="3755922"/>
            <a:ext cx="98814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/>
              <a:t>Foi usado um valor de </a:t>
            </a:r>
            <a:r>
              <a:rPr lang="pt-PT" sz="2800" b="1" dirty="0">
                <a:solidFill>
                  <a:srgbClr val="C00000"/>
                </a:solidFill>
              </a:rPr>
              <a:t>spread</a:t>
            </a:r>
            <a:r>
              <a:rPr lang="pt-PT" sz="2800" b="1" dirty="0"/>
              <a:t> comum a ambos os clusters</a:t>
            </a:r>
          </a:p>
          <a:p>
            <a:pPr algn="ctr"/>
            <a:r>
              <a:rPr lang="pt-PT" sz="2800" i="1" dirty="0"/>
              <a:t>(Como ambos os clusters têm densidades diferentes, isto poderá constituir uma limitação</a:t>
            </a:r>
            <a:r>
              <a:rPr lang="pt-PT" sz="28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FA894C76-C050-9E26-74E2-4A730FB06ACF}"/>
                  </a:ext>
                </a:extLst>
              </p:cNvPr>
              <p:cNvSpPr txBox="1"/>
              <p:nvPr/>
            </p:nvSpPr>
            <p:spPr>
              <a:xfrm>
                <a:off x="4331109" y="5200920"/>
                <a:ext cx="355927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𝑠𝑝𝑟𝑒𝑎𝑑</m:t>
                      </m:r>
                      <m:r>
                        <a:rPr lang="pt-PT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PT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FA894C76-C050-9E26-74E2-4A730FB06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109" y="5200920"/>
                <a:ext cx="3559278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8833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E3D6F8A-6AB9-ED18-1F11-4703A7E0EDC1}"/>
              </a:ext>
            </a:extLst>
          </p:cNvPr>
          <p:cNvSpPr txBox="1"/>
          <p:nvPr/>
        </p:nvSpPr>
        <p:spPr>
          <a:xfrm>
            <a:off x="1457886" y="1586802"/>
            <a:ext cx="9085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i="1" dirty="0"/>
              <a:t>Uma </a:t>
            </a:r>
            <a:r>
              <a:rPr lang="pt-PT" sz="2400" b="1" i="1" dirty="0" err="1">
                <a:solidFill>
                  <a:srgbClr val="C00000"/>
                </a:solidFill>
              </a:rPr>
              <a:t>Hidden</a:t>
            </a:r>
            <a:r>
              <a:rPr lang="pt-PT" sz="2400" b="1" i="1" dirty="0">
                <a:solidFill>
                  <a:srgbClr val="C00000"/>
                </a:solidFill>
              </a:rPr>
              <a:t> </a:t>
            </a:r>
            <a:r>
              <a:rPr lang="pt-PT" sz="2400" b="1" i="1" dirty="0" err="1">
                <a:solidFill>
                  <a:srgbClr val="C00000"/>
                </a:solidFill>
              </a:rPr>
              <a:t>Layer</a:t>
            </a:r>
            <a:r>
              <a:rPr lang="pt-PT" sz="2400" b="1" i="1" dirty="0">
                <a:solidFill>
                  <a:srgbClr val="C00000"/>
                </a:solidFill>
              </a:rPr>
              <a:t> </a:t>
            </a:r>
            <a:r>
              <a:rPr lang="pt-PT" sz="2400" b="1" i="1" dirty="0"/>
              <a:t>maior poderia capturar as características dos dados de forma mais complexa </a:t>
            </a:r>
          </a:p>
          <a:p>
            <a:pPr algn="ctr"/>
            <a:r>
              <a:rPr lang="pt-PT" sz="2400" i="1" dirty="0"/>
              <a:t>(fazer frente ao </a:t>
            </a:r>
            <a:r>
              <a:rPr lang="pt-PT" sz="2400" i="1" dirty="0" err="1"/>
              <a:t>underfitting</a:t>
            </a:r>
            <a:r>
              <a:rPr lang="pt-PT" sz="2400" i="1" dirty="0"/>
              <a:t> de apenas duas </a:t>
            </a:r>
            <a:r>
              <a:rPr lang="pt-PT" sz="2400" i="1" dirty="0" err="1"/>
              <a:t>RBFs</a:t>
            </a:r>
            <a:r>
              <a:rPr lang="pt-PT" sz="2400" i="1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30657D-C434-7378-796D-75AF55F6C7BE}"/>
              </a:ext>
            </a:extLst>
          </p:cNvPr>
          <p:cNvSpPr txBox="1"/>
          <p:nvPr/>
        </p:nvSpPr>
        <p:spPr>
          <a:xfrm>
            <a:off x="1082963" y="164911"/>
            <a:ext cx="7737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b="1" dirty="0">
                <a:solidFill>
                  <a:srgbClr val="C00000"/>
                </a:solidFill>
              </a:rPr>
              <a:t>Hipótese Final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A5D6906-6984-28E7-23BF-E6F6854F6695}"/>
              </a:ext>
            </a:extLst>
          </p:cNvPr>
          <p:cNvSpPr txBox="1"/>
          <p:nvPr/>
        </p:nvSpPr>
        <p:spPr>
          <a:xfrm>
            <a:off x="1566158" y="3014392"/>
            <a:ext cx="8396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C00000"/>
                </a:solidFill>
              </a:rPr>
              <a:t>Fundamento: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684F8B-BAD8-410A-ABF5-BE2DA233D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248" y="3058454"/>
            <a:ext cx="4744282" cy="351800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2351215-9F06-65ED-12B5-33A8A3669164}"/>
              </a:ext>
            </a:extLst>
          </p:cNvPr>
          <p:cNvSpPr/>
          <p:nvPr/>
        </p:nvSpPr>
        <p:spPr>
          <a:xfrm>
            <a:off x="4139382" y="3285093"/>
            <a:ext cx="1625150" cy="99177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E749A0-532B-CB89-BB3D-1D8EFFA530F7}"/>
              </a:ext>
            </a:extLst>
          </p:cNvPr>
          <p:cNvSpPr txBox="1"/>
          <p:nvPr/>
        </p:nvSpPr>
        <p:spPr>
          <a:xfrm>
            <a:off x="1115961" y="1011506"/>
            <a:ext cx="996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dirty="0"/>
              <a:t>Existiram outros valores para k clusters com elevados valores de precisão</a:t>
            </a:r>
          </a:p>
        </p:txBody>
      </p:sp>
    </p:spTree>
    <p:extLst>
      <p:ext uri="{BB962C8B-B14F-4D97-AF65-F5344CB8AC3E}">
        <p14:creationId xmlns:p14="http://schemas.microsoft.com/office/powerpoint/2010/main" val="4190084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D9C8A-8782-56FB-2F1F-A794AC8C9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5EA8CA1-1C9C-5E33-0374-B62F122A5F2D}"/>
              </a:ext>
            </a:extLst>
          </p:cNvPr>
          <p:cNvSpPr txBox="1"/>
          <p:nvPr/>
        </p:nvSpPr>
        <p:spPr>
          <a:xfrm>
            <a:off x="1514166" y="2323323"/>
            <a:ext cx="9163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5400" b="1" dirty="0">
                <a:solidFill>
                  <a:srgbClr val="C00000"/>
                </a:solidFill>
              </a:rPr>
              <a:t>PROJETO DE MÉRITO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580C45-388A-EEAC-4340-0822641C5D3E}"/>
              </a:ext>
            </a:extLst>
          </p:cNvPr>
          <p:cNvSpPr txBox="1"/>
          <p:nvPr/>
        </p:nvSpPr>
        <p:spPr>
          <a:xfrm>
            <a:off x="1514166" y="2967335"/>
            <a:ext cx="9163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/>
              <a:t>APRENDIZAGEM</a:t>
            </a:r>
          </a:p>
        </p:txBody>
      </p:sp>
      <p:pic>
        <p:nvPicPr>
          <p:cNvPr id="1028" name="Picture 4" descr="Associates">
            <a:extLst>
              <a:ext uri="{FF2B5EF4-FFF2-40B4-BE49-F238E27FC236}">
                <a16:creationId xmlns:a16="http://schemas.microsoft.com/office/drawing/2014/main" id="{33505C4A-470A-2FA1-2D21-BE8F0F9C2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63869"/>
            <a:ext cx="3785419" cy="179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AB6F188-7E5D-E6D3-58E4-E17554E42BE6}"/>
              </a:ext>
            </a:extLst>
          </p:cNvPr>
          <p:cNvSpPr txBox="1"/>
          <p:nvPr/>
        </p:nvSpPr>
        <p:spPr>
          <a:xfrm>
            <a:off x="9901084" y="6457890"/>
            <a:ext cx="2290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/>
              <a:t>17 Janeiro de 2025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F03CE5-D3F3-85BD-94E2-698F7520BBCC}"/>
              </a:ext>
            </a:extLst>
          </p:cNvPr>
          <p:cNvSpPr txBox="1"/>
          <p:nvPr/>
        </p:nvSpPr>
        <p:spPr>
          <a:xfrm>
            <a:off x="4694901" y="6003199"/>
            <a:ext cx="2802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/>
              <a:t>Grupo 30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F200171-47E0-8EB6-F2EA-AA82A0B78DC7}"/>
              </a:ext>
            </a:extLst>
          </p:cNvPr>
          <p:cNvSpPr txBox="1"/>
          <p:nvPr/>
        </p:nvSpPr>
        <p:spPr>
          <a:xfrm>
            <a:off x="3746088" y="6385601"/>
            <a:ext cx="4699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David Toma | Tiago Costa</a:t>
            </a:r>
          </a:p>
        </p:txBody>
      </p:sp>
    </p:spTree>
    <p:extLst>
      <p:ext uri="{BB962C8B-B14F-4D97-AF65-F5344CB8AC3E}">
        <p14:creationId xmlns:p14="http://schemas.microsoft.com/office/powerpoint/2010/main" val="37731287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632</Words>
  <Application>Microsoft Office PowerPoint</Application>
  <PresentationFormat>Ecrã Panorâmico</PresentationFormat>
  <Paragraphs>99</Paragraphs>
  <Slides>26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Toma</dc:creator>
  <cp:lastModifiedBy>David Toma</cp:lastModifiedBy>
  <cp:revision>4</cp:revision>
  <dcterms:created xsi:type="dcterms:W3CDTF">2025-01-14T10:24:27Z</dcterms:created>
  <dcterms:modified xsi:type="dcterms:W3CDTF">2025-01-17T01:57:10Z</dcterms:modified>
</cp:coreProperties>
</file>